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鶯歌工商 Mini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從校務資訊查詢痛點，到 RAG 智能問答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目標：降低師生查詢校務資訊的時間與操作成本</a:t>
            </a:r>
          </a:p>
          <a:p>
            <a:pPr>
              <a:spcAft>
                <a:spcPts val="1200"/>
              </a:spcAft>
              <a:defRPr sz="2400"/>
            </a:pPr>
            <a:r>
              <a:t>核心：開放式自然語言提問 + RAG + 校務資料</a:t>
            </a:r>
          </a:p>
          <a:p>
            <a:pPr>
              <a:spcAft>
                <a:spcPts val="1200"/>
              </a:spcAft>
              <a:defRPr sz="2400"/>
            </a:pPr>
            <a:r>
              <a:t>方向：可落地、可驗證、可建立測資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一、現有校網查詢的痛點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從使用者角度思考：資訊有提供，但找到答案不一定容易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47472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行事曆</a:t>
            </a:r>
          </a:p>
          <a:p>
            <a:pPr algn="ctr">
              <a:defRPr sz="1400"/>
            </a:pPr>
            <a:r>
              <a:t>需要開啟 PDF</a:t>
            </a:r>
            <a:br/>
            <a:r>
              <a:t>再找日期與活動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554480"/>
            <a:ext cx="347472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分機查詢</a:t>
            </a:r>
          </a:p>
          <a:p>
            <a:pPr algn="ctr">
              <a:defRPr sz="1400"/>
            </a:pPr>
            <a:r>
              <a:t>需要知道單位或名稱</a:t>
            </a:r>
            <a:br/>
            <a:r>
              <a:t>再逐項尋找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47472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法規查詢</a:t>
            </a:r>
          </a:p>
          <a:p>
            <a:pPr algn="ctr">
              <a:defRPr sz="1400"/>
            </a:pPr>
            <a:r>
              <a:t>資料分散在文件中</a:t>
            </a:r>
            <a:br/>
            <a:r>
              <a:t>需要自行閱讀理解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跨資料問題需要多次查找</a:t>
            </a:r>
          </a:p>
          <a:p>
            <a:pPr>
              <a:spcAft>
                <a:spcPts val="1200"/>
              </a:spcAft>
              <a:defRPr sz="2000"/>
            </a:pPr>
            <a:r>
              <a:t>使用者可能不知道正確關鍵字或資料位置</a:t>
            </a:r>
          </a:p>
          <a:p>
            <a:pPr>
              <a:spcAft>
                <a:spcPts val="1200"/>
              </a:spcAft>
              <a:defRPr sz="2000"/>
            </a:pPr>
            <a:r>
              <a:t>查到資料後，仍需要自行整理成真正想知道的答案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二、教師端 5 個主要痛點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01｜行事曆：想確認某一天的活動，需要開 PDF 並定位日期</a:t>
            </a:r>
          </a:p>
          <a:p>
            <a:pPr>
              <a:spcAft>
                <a:spcPts val="1200"/>
              </a:spcAft>
              <a:defRPr sz="2100"/>
            </a:pPr>
            <a:r>
              <a:t>02｜分機：想找行政人員時，需要先判斷所屬處室</a:t>
            </a:r>
          </a:p>
          <a:p>
            <a:pPr>
              <a:spcAft>
                <a:spcPts val="1200"/>
              </a:spcAft>
              <a:defRPr sz="2100"/>
            </a:pPr>
            <a:r>
              <a:t>03｜法規：學生請假、獎懲、手機等規定需要自行找文件</a:t>
            </a:r>
          </a:p>
          <a:p>
            <a:pPr>
              <a:spcAft>
                <a:spcPts val="1200"/>
              </a:spcAft>
              <a:defRPr sz="2100"/>
            </a:pPr>
            <a:r>
              <a:t>04｜跨資料：一個問題可能同時涉及行事曆、法規與分機</a:t>
            </a:r>
          </a:p>
          <a:p>
            <a:pPr>
              <a:spcAft>
                <a:spcPts val="1200"/>
              </a:spcAft>
              <a:defRPr sz="2100"/>
            </a:pPr>
            <a:r>
              <a:t>05｜理解成本：找到完整條文後，還要自行整理與理解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三、學生端 5 個主要痛點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01｜不知道去哪裡找：知道有問題，但不知道答案在哪個頁面</a:t>
            </a:r>
          </a:p>
          <a:p>
            <a:pPr>
              <a:spcAft>
                <a:spcPts val="1200"/>
              </a:spcAft>
              <a:defRPr sz="2100"/>
            </a:pPr>
            <a:r>
              <a:t>02｜分機不直覺：只知道「我要找教務處」，不一定知道正式查詢方式</a:t>
            </a:r>
          </a:p>
          <a:p>
            <a:pPr>
              <a:spcAft>
                <a:spcPts val="1200"/>
              </a:spcAft>
              <a:defRPr sz="2100"/>
            </a:pPr>
            <a:r>
              <a:t>03｜法規難理解：正式規章文字對學生較不直覺</a:t>
            </a:r>
          </a:p>
          <a:p>
            <a:pPr>
              <a:spcAft>
                <a:spcPts val="1200"/>
              </a:spcAft>
              <a:defRPr sz="2100"/>
            </a:pPr>
            <a:r>
              <a:t>04｜行事曆成本高：想問「下週有什麼活動」卻需要自己翻找</a:t>
            </a:r>
          </a:p>
          <a:p>
            <a:pPr>
              <a:spcAft>
                <a:spcPts val="1200"/>
              </a:spcAft>
              <a:defRPr sz="2100"/>
            </a:pPr>
            <a:r>
              <a:t>05｜不知道關鍵字：使用者會用自然語言描述問題，而不是網站關鍵字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四、一般 LLM 在校務查詢上的問題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474720" cy="2011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幻覺</a:t>
            </a:r>
          </a:p>
          <a:p>
            <a:pPr algn="ctr">
              <a:defRPr sz="1400"/>
            </a:pPr>
            <a:r>
              <a:t>可能產生看似合理</a:t>
            </a:r>
            <a:br/>
            <a:r>
              <a:t>但實際不存在的答案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554480"/>
            <a:ext cx="3474720" cy="2011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資料邊界</a:t>
            </a:r>
          </a:p>
          <a:p>
            <a:pPr algn="ctr">
              <a:defRPr sz="1400"/>
            </a:pPr>
            <a:r>
              <a:t>不知道哪些內容</a:t>
            </a:r>
            <a:br/>
            <a:r>
              <a:t>才是學校官方依據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554480"/>
            <a:ext cx="3474720" cy="2011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資訊時效</a:t>
            </a:r>
          </a:p>
          <a:p>
            <a:pPr algn="ctr">
              <a:defRPr sz="1400"/>
            </a:pPr>
            <a:r>
              <a:t>行事曆、分機、規定</a:t>
            </a:r>
            <a:br/>
            <a:r>
              <a:t>可能隨時間更新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因此不能只讓模型自由生成校務答案</a:t>
            </a:r>
          </a:p>
          <a:p>
            <a:pPr>
              <a:spcAft>
                <a:spcPts val="1200"/>
              </a:spcAft>
              <a:defRPr sz="2100"/>
            </a:pPr>
            <a:r>
              <a:t>需要先取得與問題相關的校務資料，再交由 LLM 整理回答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五、我們的規劃：鶯歌工商 Mini Assistant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920240"/>
            <a:ext cx="237744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使用者</a:t>
            </a:r>
          </a:p>
          <a:p>
            <a:pPr algn="ctr">
              <a:defRPr sz="1400"/>
            </a:pPr>
            <a:r>
              <a:t>自然語言</a:t>
            </a:r>
            <a:br/>
            <a:r>
              <a:t>開放式提問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6120" y="1920240"/>
            <a:ext cx="237744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RAG</a:t>
            </a:r>
          </a:p>
          <a:p>
            <a:pPr algn="ctr">
              <a:defRPr sz="1400"/>
            </a:pPr>
            <a:r>
              <a:t>搜尋相關</a:t>
            </a:r>
            <a:br/>
            <a:r>
              <a:t>校務資料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920240"/>
            <a:ext cx="237744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LLM</a:t>
            </a:r>
          </a:p>
          <a:p>
            <a:pPr algn="ctr">
              <a:defRPr sz="1400"/>
            </a:pPr>
            <a:r>
              <a:t>根據資料</a:t>
            </a:r>
            <a:br/>
            <a:r>
              <a:t>整理回答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920240"/>
            <a:ext cx="237744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回答</a:t>
            </a:r>
          </a:p>
          <a:p>
            <a:pPr algn="ctr">
              <a:defRPr sz="1400"/>
            </a:pPr>
            <a:r>
              <a:t>提供可理解的</a:t>
            </a:r>
            <a:br/>
            <a:r>
              <a:t>校務資訊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初期範圍：行事曆、分機、校務法規</a:t>
            </a:r>
          </a:p>
          <a:p>
            <a:pPr>
              <a:spcAft>
                <a:spcPts val="1200"/>
              </a:spcAft>
              <a:defRPr sz="2000"/>
            </a:pPr>
            <a:r>
              <a:t>核心原則：有資料依據才回答；找不到資料時明確告知</a:t>
            </a:r>
          </a:p>
          <a:p>
            <a:pPr>
              <a:spcAft>
                <a:spcPts val="1200"/>
              </a:spcAft>
              <a:defRPr sz="2000"/>
            </a:pPr>
            <a:r>
              <a:t>目的：把「自己找資料」轉成「直接描述問題」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六、使用者角度：從查資料到直接問問題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4846320" cy="2286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以前</a:t>
            </a:r>
          </a:p>
          <a:p>
            <a:pPr algn="ctr">
              <a:defRPr sz="1400"/>
            </a:pPr>
            <a:r>
              <a:t>校網 → 找頁面 → 找 PDF</a:t>
            </a:r>
            <a:br/>
            <a:r>
              <a:t>→ 找關鍵字 → 閱讀 → 整理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737360"/>
            <a:ext cx="4846320" cy="2286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Mini Assistant</a:t>
            </a:r>
          </a:p>
          <a:p>
            <a:pPr algn="ctr">
              <a:defRPr sz="1400"/>
            </a:pPr>
            <a:r>
              <a:t>直接問：</a:t>
            </a:r>
            <a:br/>
            <a:r>
              <a:t>「下週有什麼重要活動？」</a:t>
            </a:r>
            <a:br/>
            <a:r>
              <a:t>「教務處分機是多少？」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572000"/>
            <a:ext cx="9784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降低操作步驟</a:t>
            </a:r>
          </a:p>
          <a:p>
            <a:pPr>
              <a:spcAft>
                <a:spcPts val="1200"/>
              </a:spcAft>
              <a:defRPr sz="2000"/>
            </a:pPr>
            <a:r>
              <a:t>允許使用自然語言，不要求使用者知道正確關鍵字</a:t>
            </a:r>
          </a:p>
          <a:p>
            <a:pPr>
              <a:spcAft>
                <a:spcPts val="1200"/>
              </a:spcAft>
              <a:defRPr sz="2000"/>
            </a:pPr>
            <a:r>
              <a:t>把資料檢索與資訊整理交給系統處理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七、可落地、可驗證、可測資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建立固定測資：行事曆、分機、法規、未知問題</a:t>
            </a:r>
          </a:p>
          <a:p>
            <a:pPr>
              <a:spcAft>
                <a:spcPts val="1200"/>
              </a:spcAft>
              <a:defRPr sz="2100"/>
            </a:pPr>
            <a:r>
              <a:t>測試回答正確性：答案是否符合指定校務資料</a:t>
            </a:r>
          </a:p>
          <a:p>
            <a:pPr>
              <a:spcAft>
                <a:spcPts val="1200"/>
              </a:spcAft>
              <a:defRPr sz="2100"/>
            </a:pPr>
            <a:r>
              <a:t>測試檢索能力：是否找到與問題最相關的資料</a:t>
            </a:r>
          </a:p>
          <a:p>
            <a:pPr>
              <a:spcAft>
                <a:spcPts val="1200"/>
              </a:spcAft>
              <a:defRPr sz="2100"/>
            </a:pPr>
            <a:r>
              <a:t>測試邊界：資料庫沒有答案時，是否避免亂答</a:t>
            </a:r>
          </a:p>
          <a:p>
            <a:pPr>
              <a:spcAft>
                <a:spcPts val="1200"/>
              </a:spcAft>
              <a:defRPr sz="2100"/>
            </a:pPr>
            <a:r>
              <a:t>測試使用性：師生是否能用自然語言快速找到資訊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5257800"/>
            <a:ext cx="850392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成功標準</a:t>
            </a:r>
          </a:p>
          <a:p>
            <a:pPr algn="ctr">
              <a:defRPr sz="1400"/>
            </a:pPr>
            <a:r>
              <a:t>不是「AI 看起來很聰明」</a:t>
            </a:r>
            <a:br/>
            <a:r>
              <a:t>而是「答案有依據、可驗證、真的降低查詢成本」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八、範例測資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行事曆｜「10/10 有什麼活動？」→ 回答對應日期資訊</a:t>
            </a:r>
          </a:p>
          <a:p>
            <a:pPr>
              <a:spcAft>
                <a:spcPts val="1200"/>
              </a:spcAft>
              <a:defRPr sz="1900"/>
            </a:pPr>
            <a:r>
              <a:t>行事曆｜「下週有哪些重要事項？」→ 找出相關活動</a:t>
            </a:r>
          </a:p>
          <a:p>
            <a:pPr>
              <a:spcAft>
                <a:spcPts val="1200"/>
              </a:spcAft>
              <a:defRPr sz="1900"/>
            </a:pPr>
            <a:r>
              <a:t>分機｜「我要找註冊組」→ 回答對應分機</a:t>
            </a:r>
          </a:p>
          <a:p>
            <a:pPr>
              <a:spcAft>
                <a:spcPts val="1200"/>
              </a:spcAft>
              <a:defRPr sz="1900"/>
            </a:pPr>
            <a:r>
              <a:t>法規｜「學生請假有哪些規定？」→ 根據校規回答</a:t>
            </a:r>
          </a:p>
          <a:p>
            <a:pPr>
              <a:spcAft>
                <a:spcPts val="1200"/>
              </a:spcAft>
              <a:defRPr sz="1900"/>
            </a:pPr>
            <a:r>
              <a:t>法規｜「手機在學校可以怎麼使用？」→ 根據相關規定回答</a:t>
            </a:r>
          </a:p>
          <a:p>
            <a:pPr>
              <a:spcAft>
                <a:spcPts val="1200"/>
              </a:spcAft>
              <a:defRPr sz="1900"/>
            </a:pPr>
            <a:r>
              <a:t>未知｜「學校明天會不會停課？」→ 沒有資料時明確表示無法確認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九、預期成果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便利性</a:t>
            </a:r>
          </a:p>
          <a:p>
            <a:pPr algn="ctr">
              <a:defRPr sz="1400"/>
            </a:pPr>
            <a:r>
              <a:t>降低師生</a:t>
            </a:r>
            <a:br/>
            <a:r>
              <a:t>查詢操作成本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0440" y="1645920"/>
            <a:ext cx="256032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正確性</a:t>
            </a:r>
          </a:p>
          <a:p>
            <a:pPr algn="ctr">
              <a:defRPr sz="1400"/>
            </a:pPr>
            <a:r>
              <a:t>回答以校務資料</a:t>
            </a:r>
            <a:br/>
            <a:r>
              <a:t>作為依據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256032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安全邊界</a:t>
            </a:r>
          </a:p>
          <a:p>
            <a:pPr algn="ctr">
              <a:defRPr sz="1400"/>
            </a:pPr>
            <a:r>
              <a:t>沒有資料時</a:t>
            </a:r>
            <a:br/>
            <a:r>
              <a:t>不自行猜測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98280" y="1645920"/>
            <a:ext cx="256032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可驗證</a:t>
            </a:r>
          </a:p>
          <a:p>
            <a:pPr algn="ctr">
              <a:defRPr sz="1400"/>
            </a:pPr>
            <a:r>
              <a:t>固定測資</a:t>
            </a:r>
            <a:br/>
            <a:r>
              <a:t>量化測試結果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43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最終目標：讓鶯歌工商師生能以自然語言，更快速取得校務資訊</a:t>
            </a:r>
          </a:p>
          <a:p>
            <a:pPr>
              <a:spcAft>
                <a:spcPts val="1200"/>
              </a:spcAft>
              <a:defRPr sz="2200"/>
            </a:pPr>
            <a:r>
              <a:t>從「資訊查詢網站」進一步成為「校務資訊助理」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